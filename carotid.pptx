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8" r:id="rId10"/>
    <p:sldId id="269" r:id="rId11"/>
    <p:sldId id="270" r:id="rId12"/>
    <p:sldId id="265" r:id="rId13"/>
    <p:sldId id="266" r:id="rId14"/>
    <p:sldId id="267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33337-04EF-43EC-A0EA-D99EB857156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951E80-AC6C-4E5A-8D23-2BCB12926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3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51E80-AC6C-4E5A-8D23-2BCB1292632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743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6D5F-FCF0-4692-BAE1-646C25D26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20FBE-9F27-36FB-8F0C-8EAD7180E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EEB6-3812-41DF-03A2-23856C2D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E7635-CAA7-544E-18D4-0DB0B4053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FBCEA-3ECA-C0E2-2C7B-8410A7F0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72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EDA3-C124-1F03-1C9E-12F95743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536C-6EA7-9AB9-3215-816F7EC01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1ADB2-3E12-AF33-72D0-90489E1F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361D4-90F6-3026-8D5E-56A753BB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B830A-D51F-D88B-6589-EDD925AF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9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F1C4-0945-BE19-783D-C95E6543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90A6D-C89C-C7D3-1320-3F13F8016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71AC5-C16E-4864-79E7-7D63D4415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BFB20-F36D-603F-B805-195DD5224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2C830-D706-D679-B143-EBE4F116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40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1010-EFD3-D2CD-2755-AD3A3C71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5166-FA39-7D48-2828-F9E1DFB33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0C170-C3B9-8DC0-4CDA-5B626BAB9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0913B-7824-7C36-0DAD-7151B6D1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1DE4-0D49-E939-FA7A-C1D7F91E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7C62E-924B-F9E5-D293-A2C44879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06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8193-9365-AFFE-781C-0BA58D26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D3BEB-1ED9-F69E-8A5A-AB2B50088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19D8E-F569-DC0F-2FC1-78747146F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2F28-083E-1860-8CC9-87B04EA2E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8B1B5-5D0E-3795-DD75-E8A49FDE6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823C8-2654-196F-7A9A-50A07DD9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A695D-FFF5-AC09-C0FF-11C4F0CE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05B264-0EB8-857A-4F4F-9A37014B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02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A9E1-872E-B4AD-2063-8488E99C7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F431B-E7E2-73D6-AFFD-FACF2BE7A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075A6-0565-D5F1-6942-836BB027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2AE75-5A36-1E56-ACF9-3E7ED464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9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4CB76-DBF9-9BA1-B8FC-6DFDEC0D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37AF05-33D1-1049-70F6-810231275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88473-2D32-E492-5E6F-DDAFE825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20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14CF-D135-7405-EEF1-433F5D88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DD386-405F-3D61-2C3E-9A6C5DE9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7F2B0-9EE3-ACEA-8749-0F9BA622E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85C85-1E53-7D63-12C5-46A3614E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C8EFE-3ED2-84A4-1696-4FB89BBA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A8912-8B96-5D17-C663-CA53B9B7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27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1A3E-0E7D-2F7B-F2D7-CF757C483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9EBE4-9C7D-2AC2-BBBC-A021C6273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CC39D-3E43-389C-194B-AB0DF8955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2B8C0-2B43-E60A-D1A5-C9FA2C8D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2746E-A597-573F-B2B1-726FDDA3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988A7-499B-1B3A-12FE-4F7C78C1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36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2B17-546B-ACA0-F5C3-C82505FD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F9149-B849-12F7-606C-3C0AADE78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49B99-8090-6419-E826-C36AA046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3020C-AB27-E4EF-D170-15CD8F14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46740-C1B2-B801-5A0D-4B405296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77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7EFA0-8081-309A-753D-C8E49148F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60006-8063-651C-2F81-4A8D7E9C8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D5272-1E4F-4427-BA5D-48360696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8E932-DA95-F6EC-21D9-6ABC9776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286D-ECE6-60BC-4644-B8DD33B1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03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ED913-F933-CE9F-ED16-C3257E51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70FC2-864C-C82C-3770-5E1A716E4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5F666-1B59-0B09-242C-C448214CB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E1AFC-7665-4567-BD50-EDB15549184C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736B4-D1E6-B51E-C05F-C6C5EB3B4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6825A-E6D7-DF0A-81D8-F73D6223F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D3AF-B328-4A6E-8605-EDDA1D27AB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745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6EDA-FBD2-5B35-2EB1-D2DA583CA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010" y="1122362"/>
            <a:ext cx="10944520" cy="192563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CAROTID ARTERY STENOSIS USING CNN REGRESSOR AND GRADCAM VISUALIZATION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98342-6A63-963A-0392-5696019E7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7270" y="4299621"/>
            <a:ext cx="10327064" cy="1655762"/>
          </a:xfrm>
        </p:spPr>
        <p:txBody>
          <a:bodyPr/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KASINA SAAKET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44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901A-F04C-8A4C-6108-85628392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214"/>
            <a:ext cx="10515600" cy="45982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9792-4DD8-7345-2F75-EA2D4877F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0" y="864704"/>
            <a:ext cx="11907078" cy="577208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Carotid artery stenosis (CAS) is a significant risk factor for ischemic stroke, caused by narrowing of the carotid arteries.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and segmentation is time-consuming, requires expert knowledge, and may miss subtle patterns.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pipeline (CNN pentagon regressor)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carotid artery images and: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meaningful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and texture features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differentiate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vs stenotic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image similarity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t-SNE and HDBSCAN/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Bypass YOLO limitations (YOLO requires bounding boxes — unsuitable for this polygonal label format)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feature-based, label-independent diagnosis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representations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ResNet50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scalable and automated screening of medical imagery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4171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5FA0C-413C-3484-A881-4AB06B97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544"/>
            <a:ext cx="10515600" cy="47970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IMAGE LABEL FORMAT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2E29-3541-4982-CD90-AE064A129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43" y="1013791"/>
            <a:ext cx="11847444" cy="5163172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images of carotid arteries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stenotic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carotid artery samples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images: 10896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Label Format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polygonal segmentation masks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bounding boxes)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Polygon vertices define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stenotic region boundaries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Polygonal masks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capture shape and texture of affected regions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16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2816-92B0-3BDA-A702-62A1D208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8DDDA-6614-86F3-9A73-9F9E4337F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Image resizing and normalization applied.</a:t>
            </a:r>
            <a:br>
              <a:rPr lang="en-IN" dirty="0"/>
            </a:br>
            <a:r>
              <a:rPr lang="en-IN" dirty="0"/>
              <a:t>Standardizes inputs for CNN training stability.</a:t>
            </a:r>
          </a:p>
          <a:p>
            <a:r>
              <a:rPr lang="en-IN" b="1" dirty="0"/>
              <a:t>Noise reduction performed on ultrasound images.</a:t>
            </a:r>
            <a:br>
              <a:rPr lang="en-IN" dirty="0"/>
            </a:br>
            <a:r>
              <a:rPr lang="en-IN" dirty="0"/>
              <a:t>Minimizes speckle noise inherent in ultrasound imaging.</a:t>
            </a:r>
          </a:p>
          <a:p>
            <a:r>
              <a:rPr lang="en-IN" b="1" dirty="0"/>
              <a:t>Region of interest enhancement.</a:t>
            </a:r>
            <a:br>
              <a:rPr lang="en-IN" dirty="0"/>
            </a:br>
            <a:r>
              <a:rPr lang="en-IN" dirty="0"/>
              <a:t>Focuses model attention on carotid artery structures.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47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F678-D10A-4AE2-99DF-42ACF93D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403"/>
            <a:ext cx="10515600" cy="66854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ARCHITECTURE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709B6-3BAE-554C-F149-22035DE84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5" y="904460"/>
            <a:ext cx="11738112" cy="588396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CNN Problem Formulation</a:t>
            </a:r>
          </a:p>
          <a:p>
            <a:r>
              <a:rPr lang="en-US" b="1" dirty="0"/>
              <a:t>Input consists of preprocessed ultrasound images.</a:t>
            </a:r>
            <a:br>
              <a:rPr lang="en-US" dirty="0"/>
            </a:br>
            <a:r>
              <a:rPr lang="en-US" dirty="0"/>
              <a:t>Images are fed into the CNN in standardized tensor format.</a:t>
            </a:r>
          </a:p>
          <a:p>
            <a:r>
              <a:rPr lang="en-US" b="1" dirty="0"/>
              <a:t>Primary task is artery and plaque segmentation.</a:t>
            </a:r>
            <a:br>
              <a:rPr lang="en-US" dirty="0"/>
            </a:br>
            <a:r>
              <a:rPr lang="en-US" dirty="0"/>
              <a:t>Pixel-wise classification separates lumen, plaque, and background.</a:t>
            </a:r>
          </a:p>
          <a:p>
            <a:r>
              <a:rPr lang="en-US" b="1" dirty="0"/>
              <a:t>Secondary task is feature extraction from segmented regions.</a:t>
            </a:r>
            <a:br>
              <a:rPr lang="en-US" dirty="0"/>
            </a:br>
            <a:r>
              <a:rPr lang="en-US" dirty="0"/>
              <a:t>Clinical parameters are computed from segmentation outputs.</a:t>
            </a:r>
          </a:p>
          <a:p>
            <a:endParaRPr lang="en-US" dirty="0"/>
          </a:p>
          <a:p>
            <a:r>
              <a:rPr lang="en-US" b="1" dirty="0"/>
              <a:t>CNN Architecture</a:t>
            </a:r>
          </a:p>
          <a:p>
            <a:r>
              <a:rPr lang="en-US" b="1" dirty="0"/>
              <a:t>Encoder network extracts hierarchical features.</a:t>
            </a:r>
            <a:br>
              <a:rPr lang="en-US" dirty="0"/>
            </a:br>
            <a:r>
              <a:rPr lang="en-US" dirty="0"/>
              <a:t>Lower layers capture edges, higher layers capture plaque textures.</a:t>
            </a:r>
          </a:p>
          <a:p>
            <a:r>
              <a:rPr lang="en-US" b="1" dirty="0"/>
              <a:t>Decoder network reconstructs segmentation masks.</a:t>
            </a:r>
            <a:br>
              <a:rPr lang="en-US" dirty="0"/>
            </a:br>
            <a:r>
              <a:rPr lang="en-US" dirty="0"/>
              <a:t>Spatial resolution is restored to localize anatomical structures.</a:t>
            </a:r>
          </a:p>
          <a:p>
            <a:r>
              <a:rPr lang="en-US" b="1" dirty="0"/>
              <a:t>End-to-end trainable architecture.</a:t>
            </a:r>
            <a:br>
              <a:rPr lang="en-US" dirty="0"/>
            </a:br>
            <a:r>
              <a:rPr lang="en-US" dirty="0"/>
              <a:t>The model learns optimal parameters during training.</a:t>
            </a:r>
          </a:p>
          <a:p>
            <a:r>
              <a:rPr lang="en-US" dirty="0"/>
              <a:t>Ensures precise localization in segmentation output.</a:t>
            </a:r>
          </a:p>
          <a:p>
            <a:r>
              <a:rPr lang="en-US" dirty="0"/>
              <a:t>This segmentation enables precise anatomical localization required for clinical parameter computation.”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20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2E29-8B45-79D2-B316-6C12A3E7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LAYERS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185A-0F59-876E-1708-263827DD3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Convolution layers detect structural patterns.</a:t>
            </a:r>
            <a:br>
              <a:rPr lang="en-IN" dirty="0"/>
            </a:br>
            <a:r>
              <a:rPr lang="en-IN" dirty="0"/>
              <a:t>Filters learn artery boundaries and plaque morphology.</a:t>
            </a:r>
          </a:p>
          <a:p>
            <a:r>
              <a:rPr lang="en-IN" b="1" dirty="0"/>
              <a:t>ReLU activation introduces non-linearity.</a:t>
            </a:r>
            <a:br>
              <a:rPr lang="en-IN" dirty="0"/>
            </a:br>
            <a:r>
              <a:rPr lang="en-IN" dirty="0"/>
              <a:t>Enables learning of complex relationships.</a:t>
            </a:r>
          </a:p>
          <a:p>
            <a:r>
              <a:rPr lang="en-IN" b="1" dirty="0"/>
              <a:t>Pooling layers reduce dimensionality.</a:t>
            </a:r>
            <a:br>
              <a:rPr lang="en-IN" dirty="0"/>
            </a:br>
            <a:r>
              <a:rPr lang="en-IN" dirty="0"/>
              <a:t>Improves computational efficiency and robustness.</a:t>
            </a:r>
          </a:p>
          <a:p>
            <a:r>
              <a:rPr lang="en-IN" b="1" dirty="0" err="1"/>
              <a:t>Upsampling</a:t>
            </a:r>
            <a:r>
              <a:rPr lang="en-IN" b="1" dirty="0"/>
              <a:t> layers restore spatial details.</a:t>
            </a:r>
            <a:br>
              <a:rPr lang="en-IN" dirty="0"/>
            </a:br>
            <a:r>
              <a:rPr lang="en-IN" dirty="0"/>
              <a:t>Ensures precise localization in segmentation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698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77C2-BDDA-507E-1F85-0C4A3DCD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79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TRAINING STRATEGY &amp; OUTPUTS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E13C-6CBC-2A6A-8605-901C6802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1123122"/>
            <a:ext cx="10946296" cy="5369753"/>
          </a:xfrm>
        </p:spPr>
        <p:txBody>
          <a:bodyPr>
            <a:normAutofit/>
          </a:bodyPr>
          <a:lstStyle/>
          <a:p>
            <a:r>
              <a:rPr lang="en-IN" b="1" dirty="0"/>
              <a:t>Dice loss addresses class imbalance.</a:t>
            </a:r>
            <a:br>
              <a:rPr lang="en-IN" dirty="0"/>
            </a:br>
            <a:r>
              <a:rPr lang="en-IN" dirty="0"/>
              <a:t>Useful when plaque regions are smaller than background.</a:t>
            </a:r>
          </a:p>
          <a:p>
            <a:r>
              <a:rPr lang="en-IN" b="1" dirty="0"/>
              <a:t>Adam optimizer ensures fast convergence.</a:t>
            </a:r>
            <a:br>
              <a:rPr lang="en-IN" dirty="0"/>
            </a:br>
            <a:r>
              <a:rPr lang="en-IN" dirty="0"/>
              <a:t>Adaptive learning rates improve stability.</a:t>
            </a:r>
          </a:p>
          <a:p>
            <a:r>
              <a:rPr lang="en-IN" b="1" dirty="0"/>
              <a:t>Validation monitoring prevents overfitting.</a:t>
            </a:r>
            <a:br>
              <a:rPr lang="en-IN" dirty="0"/>
            </a:br>
            <a:r>
              <a:rPr lang="en-IN" dirty="0"/>
              <a:t>Ensures model generalization on unseen data.</a:t>
            </a:r>
          </a:p>
          <a:p>
            <a:r>
              <a:rPr lang="en-IN" b="1" dirty="0"/>
              <a:t>CNN outputs pixel-wise segmentation masks.</a:t>
            </a:r>
            <a:br>
              <a:rPr lang="en-IN" dirty="0"/>
            </a:br>
            <a:r>
              <a:rPr lang="en-IN" dirty="0"/>
              <a:t>Each pixel is classified as lumen, plaque, or background.</a:t>
            </a:r>
          </a:p>
          <a:p>
            <a:r>
              <a:rPr lang="en-IN" b="1" dirty="0"/>
              <a:t>Morphological operations refine boundaries.</a:t>
            </a:r>
            <a:br>
              <a:rPr lang="en-IN" dirty="0"/>
            </a:br>
            <a:r>
              <a:rPr lang="en-IN" dirty="0"/>
              <a:t>Reduces segmentation noise and artifacts.</a:t>
            </a:r>
          </a:p>
          <a:p>
            <a:r>
              <a:rPr lang="en-IN" b="1" dirty="0"/>
              <a:t>Final masks used for quantitative analysis.</a:t>
            </a:r>
            <a:br>
              <a:rPr lang="en-IN" dirty="0"/>
            </a:br>
            <a:r>
              <a:rPr lang="en-IN" dirty="0"/>
              <a:t>Accurate boundaries enable reliable measurements.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404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D529-3547-3A21-E56B-D6F5E3A05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426" y="546652"/>
            <a:ext cx="9144000" cy="725557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“Hybrid Deep Learning Approach using Resnet50: Segmentation + Feature Learning”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13E1B-EDF1-7C5F-1924-070B9721B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843" y="1550504"/>
            <a:ext cx="11678479" cy="5218044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Plaque area computed from segmented regions.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plaque burden in the artery.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Lumen area extracted for stenosis calculation.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assess degree of narrowing.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Intensity-based analysis for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echolucency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plaque composition and vulnerability.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Parameter Computation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Plaque percentage indicates disease severity.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as plaque area relative to artery area.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Lumen stenosis measures flow obstruction.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diameter or area reduction.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Calcification detection uses intensity thresholds.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hardened plaque regions.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 thickness estimation reflects plaque stability.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Thinner caps indicate higher rupture risk.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10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5FD1-F0D6-8328-24E6-80424027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787"/>
            <a:ext cx="10515600" cy="57909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Workflow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81BBC-8447-E29F-9A7E-419B7105F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35" y="1282148"/>
            <a:ext cx="11688417" cy="52677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Screen 1: Login and session control.</a:t>
            </a:r>
            <a:br>
              <a:rPr lang="en-US" dirty="0"/>
            </a:br>
            <a:r>
              <a:rPr lang="en-US" dirty="0"/>
              <a:t>Allows controlled start and end of analysis sessions.</a:t>
            </a:r>
          </a:p>
          <a:p>
            <a:r>
              <a:rPr lang="en-US" b="1" dirty="0"/>
              <a:t>Screen 2: Patient data entry and image upload.</a:t>
            </a:r>
            <a:br>
              <a:rPr lang="en-US" dirty="0"/>
            </a:br>
            <a:r>
              <a:rPr lang="en-US" dirty="0"/>
              <a:t>Includes name, age, sex, ID, and ultrasound image input.</a:t>
            </a:r>
          </a:p>
          <a:p>
            <a:r>
              <a:rPr lang="en-US" b="1" dirty="0"/>
              <a:t>Automated processing after submission.</a:t>
            </a:r>
            <a:br>
              <a:rPr lang="en-US" dirty="0"/>
            </a:br>
            <a:r>
              <a:rPr lang="en-US" dirty="0"/>
              <a:t>The system executes segmentation and analysis without manual intervention.</a:t>
            </a:r>
          </a:p>
          <a:p>
            <a:r>
              <a:rPr lang="en-US" b="1" dirty="0"/>
              <a:t>Dual-screen GUI-based application.</a:t>
            </a:r>
            <a:br>
              <a:rPr lang="en-US" dirty="0"/>
            </a:br>
            <a:r>
              <a:rPr lang="en-US" dirty="0"/>
              <a:t>The first screen manages session control, while the second screen handles analysis.</a:t>
            </a:r>
          </a:p>
          <a:p>
            <a:r>
              <a:rPr lang="en-US" b="1" dirty="0"/>
              <a:t>Backend deep learning model for image analysis.</a:t>
            </a:r>
            <a:br>
              <a:rPr lang="en-US" dirty="0"/>
            </a:br>
            <a:r>
              <a:rPr lang="en-US" dirty="0"/>
              <a:t>CNN processes ultrasound images automatically after upload.</a:t>
            </a:r>
          </a:p>
          <a:p>
            <a:r>
              <a:rPr lang="en-US" b="1" dirty="0"/>
              <a:t>Integrated clinical parameter computation module.</a:t>
            </a:r>
            <a:br>
              <a:rPr lang="en-US" dirty="0"/>
            </a:br>
            <a:r>
              <a:rPr lang="en-US" dirty="0"/>
              <a:t>Extracted features are converted into meaningful medical metrics.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736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73EE-CCFF-FD77-96F4-E6807FDA1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883"/>
            <a:ext cx="10515600" cy="72838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WORKFLOW SAMPLE IMAGES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E12A3-5961-008C-82BB-6D688870A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38" y="1142829"/>
            <a:ext cx="4967926" cy="44566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5F4B4C-0129-5D6B-81F9-4B9780C7E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351" y="1142829"/>
            <a:ext cx="6183983" cy="445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02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8449-6386-68D2-AD80-5929D5B55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8219"/>
            <a:ext cx="9144000" cy="64987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CAROTID STENOSIS IN GUI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3BB4B-FCDA-A964-EB35-DE7496E7F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144" y="5099901"/>
            <a:ext cx="9913856" cy="980387"/>
          </a:xfrm>
        </p:spPr>
        <p:txBody>
          <a:bodyPr>
            <a:normAutofit fontScale="92500"/>
          </a:bodyPr>
          <a:lstStyle/>
          <a:p>
            <a:r>
              <a:rPr lang="en-US" dirty="0"/>
              <a:t>Sample output.</a:t>
            </a:r>
          </a:p>
          <a:p>
            <a:r>
              <a:rPr lang="en-US" dirty="0"/>
              <a:t>Green </a:t>
            </a:r>
            <a:r>
              <a:rPr lang="en-US" dirty="0" err="1"/>
              <a:t>colour</a:t>
            </a:r>
            <a:r>
              <a:rPr lang="en-US" dirty="0"/>
              <a:t> inside the circular carotid artery is plaque, as pointed by an arrow.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8DFDB-E17A-AD37-50BF-98AF8BE34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70" y="1224910"/>
            <a:ext cx="3412502" cy="3658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68D346-76BB-00DE-24CF-0FF395D82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590" y="1224910"/>
            <a:ext cx="4572000" cy="36581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F3B728-508C-A01F-73B4-BF86ADB59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441" y="1224912"/>
            <a:ext cx="3685880" cy="365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93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030F-0160-0E00-78C9-EBF5E0C4F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386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Parameter Computation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0A41C-DA89-C86E-6227-11E60632A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67" y="710751"/>
            <a:ext cx="11105322" cy="2718249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Plaque percentage indicates disease severity.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as plaque area relative to artery area.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Lumen stenosis measures flow obstruction.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from diameter or area reduction.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Calcification detection uses intensity thresholds.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hardened plaque regions.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 thickness estimation reflects plaque stability.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Thinner caps indicate higher rupture risk.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28AD10-8547-6246-9C08-E1B3FD87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1" y="3429000"/>
            <a:ext cx="3288574" cy="31414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AE369E-90D0-8541-A6C1-DDEE6D360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835" y="3429001"/>
            <a:ext cx="4812324" cy="31414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BBBC3A-4176-2398-9B43-FCA5CCD55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772" y="3429000"/>
            <a:ext cx="3685880" cy="314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35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9A74-D231-079A-2EC3-9A30DCC0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Plaque Susceptibility Prediction &amp; Results</a:t>
            </a:r>
            <a:br>
              <a:rPr lang="en-US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E5591-5290-56B9-760E-ACE9E0CBD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3" y="1550504"/>
            <a:ext cx="11787809" cy="494237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Plaque Susceptibility Prediction: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parameters combined for risk assessment.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holistic plaque evaluation.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categorized into low, moderate, and high.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clinical interpretation.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displayed clearly in GUI.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clinical decision-making.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segmentation achieved on ultrasound images.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effectively identifies artery and plaque regions.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parameter extraction reduces manual effort.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consistency.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demonstrates clinical applicability.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decision support.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03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75A6-891D-672A-D825-09CE834E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673"/>
            <a:ext cx="10515600" cy="63872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 of Proposed System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3071-7DFF-9AE5-7E31-E3DE782F9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755374"/>
            <a:ext cx="11075504" cy="573750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Advantages of Proposed System</a:t>
            </a:r>
          </a:p>
          <a:p>
            <a:r>
              <a:rPr lang="en-IN" b="1" dirty="0"/>
              <a:t>End-to-end automation reduces variability.</a:t>
            </a:r>
            <a:br>
              <a:rPr lang="en-IN" dirty="0"/>
            </a:br>
            <a:r>
              <a:rPr lang="en-IN" dirty="0"/>
              <a:t>Minimizes human error.</a:t>
            </a:r>
          </a:p>
          <a:p>
            <a:r>
              <a:rPr lang="en-IN" b="1" dirty="0"/>
              <a:t>User-friendly interface enables easy adoption.</a:t>
            </a:r>
            <a:br>
              <a:rPr lang="en-IN" dirty="0"/>
            </a:br>
            <a:r>
              <a:rPr lang="en-IN" dirty="0"/>
              <a:t>Designed for clinical environments.</a:t>
            </a:r>
          </a:p>
          <a:p>
            <a:r>
              <a:rPr lang="en-IN" b="1" dirty="0"/>
              <a:t>Scalable and extendable architecture.</a:t>
            </a:r>
            <a:br>
              <a:rPr lang="en-IN" dirty="0"/>
            </a:br>
            <a:r>
              <a:rPr lang="en-IN" dirty="0"/>
              <a:t>Can integrate future improvements.</a:t>
            </a:r>
          </a:p>
          <a:p>
            <a:endParaRPr lang="en-IN" dirty="0"/>
          </a:p>
          <a:p>
            <a:r>
              <a:rPr lang="en-US" b="1" dirty="0"/>
              <a:t>Limitations</a:t>
            </a:r>
          </a:p>
          <a:p>
            <a:r>
              <a:rPr lang="en-US" b="1" dirty="0"/>
              <a:t>Dependent on ultrasound image quality.</a:t>
            </a:r>
            <a:br>
              <a:rPr lang="en-US" dirty="0"/>
            </a:br>
            <a:r>
              <a:rPr lang="en-US" dirty="0"/>
              <a:t>Poor images reduce accuracy.</a:t>
            </a:r>
          </a:p>
          <a:p>
            <a:r>
              <a:rPr lang="en-US" b="1" dirty="0"/>
              <a:t>Requires larger datasets for further improvement.</a:t>
            </a:r>
            <a:br>
              <a:rPr lang="en-US" dirty="0"/>
            </a:br>
            <a:r>
              <a:rPr lang="en-US" dirty="0"/>
              <a:t>More data improves robustness.</a:t>
            </a:r>
          </a:p>
          <a:p>
            <a:r>
              <a:rPr lang="en-US" b="1" dirty="0"/>
              <a:t>Clinical validation still required.</a:t>
            </a:r>
            <a:br>
              <a:rPr lang="en-US" dirty="0"/>
            </a:br>
            <a:r>
              <a:rPr lang="en-US" dirty="0"/>
              <a:t>Necessary before real-world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3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5B57-B5CE-43C6-4ECC-E252572DD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444" y="197678"/>
            <a:ext cx="7679635" cy="81611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367E7-F9C6-F2FC-1992-A96114DD7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1103242"/>
            <a:ext cx="11757991" cy="5557079"/>
          </a:xfrm>
        </p:spPr>
        <p:txBody>
          <a:bodyPr>
            <a:normAutofit/>
          </a:bodyPr>
          <a:lstStyle/>
          <a:p>
            <a:r>
              <a:rPr lang="en-US" sz="2400" b="1" dirty="0"/>
              <a:t>Future Scope</a:t>
            </a:r>
          </a:p>
          <a:p>
            <a:r>
              <a:rPr lang="en-US" sz="2400" b="1" dirty="0"/>
              <a:t>Real-time ultrasound integration.</a:t>
            </a:r>
            <a:br>
              <a:rPr lang="en-US" sz="2400" dirty="0"/>
            </a:br>
            <a:r>
              <a:rPr lang="en-US" sz="2400" dirty="0"/>
              <a:t>Allows live analysis during scanning.</a:t>
            </a:r>
          </a:p>
          <a:p>
            <a:r>
              <a:rPr lang="en-US" sz="2400" b="1" dirty="0"/>
              <a:t>Advanced deep learning architectures.</a:t>
            </a:r>
            <a:br>
              <a:rPr lang="en-US" sz="2400" dirty="0"/>
            </a:br>
            <a:r>
              <a:rPr lang="en-US" sz="2400" dirty="0"/>
              <a:t>Improves segmentation accuracy.</a:t>
            </a:r>
          </a:p>
          <a:p>
            <a:r>
              <a:rPr lang="en-US" sz="2400" b="1" dirty="0"/>
              <a:t>Deployment as clinical decision support system.</a:t>
            </a:r>
            <a:br>
              <a:rPr lang="en-US" sz="2400" dirty="0"/>
            </a:br>
            <a:r>
              <a:rPr lang="en-US" sz="2400" dirty="0"/>
              <a:t>Assists doctors in diagnosis.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7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1042</Words>
  <Application>Microsoft Office PowerPoint</Application>
  <PresentationFormat>Widescreen</PresentationFormat>
  <Paragraphs>106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CAROTID ARTERY STENOSIS USING CNN REGRESSOR AND GRADCAM VISUALIZATION</vt:lpstr>
      <vt:lpstr>PROBLEM STATEMENT AND OBJECTIVE</vt:lpstr>
      <vt:lpstr>DATASET AND IMAGE LABEL FORMAT</vt:lpstr>
      <vt:lpstr>Image Preprocessing</vt:lpstr>
      <vt:lpstr>CNN MODEL ARCHITECTURE</vt:lpstr>
      <vt:lpstr>CNN LAYERS</vt:lpstr>
      <vt:lpstr>CNN TRAINING STRATEGY &amp; OUTPUTS</vt:lpstr>
      <vt:lpstr> “Hybrid Deep Learning Approach using Resnet50: Segmentation + Feature Learning”</vt:lpstr>
      <vt:lpstr>GUI Workflow </vt:lpstr>
      <vt:lpstr>GUI WORKFLOW SAMPLE IMAGES </vt:lpstr>
      <vt:lpstr>CAROTID STENOSIS IN GUI</vt:lpstr>
      <vt:lpstr>Clinical Parameter Computation </vt:lpstr>
      <vt:lpstr>Plaque Susceptibility Prediction &amp; Results </vt:lpstr>
      <vt:lpstr>Advantages &amp; Limitations of Proposed System 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Saaket Kasina</dc:creator>
  <cp:lastModifiedBy>Saaket Kasina</cp:lastModifiedBy>
  <cp:revision>77</cp:revision>
  <dcterms:created xsi:type="dcterms:W3CDTF">2025-06-02T14:51:01Z</dcterms:created>
  <dcterms:modified xsi:type="dcterms:W3CDTF">2026-02-12T08:14:20Z</dcterms:modified>
</cp:coreProperties>
</file>