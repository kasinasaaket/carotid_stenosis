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3" r:id="rId7"/>
    <p:sldId id="264" r:id="rId8"/>
    <p:sldId id="259" r:id="rId9"/>
    <p:sldId id="268" r:id="rId10"/>
    <p:sldId id="269" r:id="rId11"/>
    <p:sldId id="270" r:id="rId12"/>
    <p:sldId id="265" r:id="rId13"/>
    <p:sldId id="266" r:id="rId14"/>
    <p:sldId id="267" r:id="rId15"/>
    <p:sldId id="26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06D5F-FCF0-4692-BAE1-646C25D26B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320FBE-9F27-36FB-8F0C-8EAD7180E4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A0EEB6-3812-41DF-03A2-23856C2D6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E7635-CAA7-544E-18D4-0DB0B4053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FBCEA-3ECA-C0E2-2C7B-8410A7F06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37275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AEDA3-C124-1F03-1C9E-12F957439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F536C-6EA7-9AB9-3215-816F7EC01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E1ADB2-3E12-AF33-72D0-90489E1F4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361D4-90F6-3026-8D5E-56A753BB0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B830A-D51F-D88B-6589-EDD925AF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4297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6F1C4-0945-BE19-783D-C95E6543C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590A6D-C89C-C7D3-1320-3F13F80162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971AC5-C16E-4864-79E7-7D63D4415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BFB20-F36D-603F-B805-195DD5224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32C830-D706-D679-B143-EBE4F1164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5402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71010-EFD3-D2CD-2755-AD3A3C713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45166-FA39-7D48-2828-F9E1DFB330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0C170-C3B9-8DC0-4CDA-5B626BAB92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A0913B-7824-7C36-0DAD-7151B6D17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FC1DE4-0D49-E939-FA7A-C1D7F91E2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A7C62E-924B-F9E5-D293-A2C448792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2060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8193-9365-AFFE-781C-0BA58D26E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8D3BEB-1ED9-F69E-8A5A-AB2B500882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B19D8E-F569-DC0F-2FC1-78747146FA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772F28-083E-1860-8CC9-87B04EA2E1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C8B1B5-5D0E-3795-DD75-E8A49FDE6D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5823C8-2654-196F-7A9A-50A07DD94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A695D-FFF5-AC09-C0FF-11C4F0CE0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05B264-0EB8-857A-4F4F-9A37014B8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6024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5A9E1-872E-B4AD-2063-8488E99C7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5F431B-E7E2-73D6-AFFD-FACF2BE7A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075A6-0565-D5F1-6942-836BB0279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A2AE75-5A36-1E56-ACF9-3E7ED4643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959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D4CB76-DBF9-9BA1-B8FC-6DFDEC0DF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37AF05-33D1-1049-70F6-810231275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88473-2D32-E492-5E6F-DDAFE8255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4201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E14CF-D135-7405-EEF1-433F5D889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2DD386-405F-3D61-2C3E-9A6C5DE98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7F2B0-9EE3-ACEA-8749-0F9BA622E1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685C85-1E53-7D63-12C5-46A3614E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C8EFE-3ED2-84A4-1696-4FB89BBA7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A8912-8B96-5D17-C663-CA53B9B75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7270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D1A3E-0E7D-2F7B-F2D7-CF757C483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E9EBE4-9C7D-2AC2-BBBC-A021C6273C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CCC39D-3E43-389C-194B-AB0DF89550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12B8C0-2B43-E60A-D1A5-C9FA2C8DB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A2746E-A597-573F-B2B1-726FDDA3B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0988A7-499B-1B3A-12FE-4F7C78C10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5365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12B17-546B-ACA0-F5C3-C82505FD5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5F9149-B849-12F7-606C-3C0AADE783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D49B99-8090-6419-E826-C36AA0460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3020C-AB27-E4EF-D170-15CD8F144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E46740-C1B2-B801-5A0D-4B405296F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9778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F7EFA0-8081-309A-753D-C8E49148FC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C60006-8063-651C-2F81-4A8D7E9C81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D5272-1E4F-4427-BA5D-48360696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8E932-DA95-F6EC-21D9-6ABC97760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87286D-ECE6-60BC-4644-B8DD33B1B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9033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BED913-F933-CE9F-ED16-C3257E511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E70FC2-864C-C82C-3770-5E1A716E4F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B5F666-1B59-0B09-242C-C448214CBB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4E1AFC-7665-4567-BD50-EDB15549184C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4736B4-D1E6-B51E-C05F-C6C5EB3B44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825A-E6D7-DF0A-81D8-F73D6223FC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6745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E6EDA-FBD2-5B35-2EB1-D2DA583CA4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7010" y="1122363"/>
            <a:ext cx="10944520" cy="1300326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CAROTID ARTERY STENOSIS USING INSTANCE SEGMENTATION</a:t>
            </a:r>
            <a:endParaRPr lang="en-IN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198342-6A63-963A-0392-5696019E71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7270" y="4299621"/>
            <a:ext cx="10327064" cy="1655762"/>
          </a:xfrm>
        </p:spPr>
        <p:txBody>
          <a:bodyPr/>
          <a:lstStyle/>
          <a:p>
            <a:pPr algn="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KASINA SAAKET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0440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A901A-F04C-8A4C-6108-85628392A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1214"/>
            <a:ext cx="10515600" cy="459823"/>
          </a:xfrm>
        </p:spPr>
        <p:txBody>
          <a:bodyPr>
            <a:normAutofit fontScale="90000"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AND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FF9792-4DD8-7345-2F75-EA2D4877F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270" y="864704"/>
            <a:ext cx="11907078" cy="5772082"/>
          </a:xfrm>
        </p:spPr>
        <p:txBody>
          <a:bodyPr>
            <a:normAutofit/>
          </a:bodyPr>
          <a:lstStyle/>
          <a:p>
            <a:pPr algn="just">
              <a:buFont typeface="Wingdings" panose="05000000000000000000" pitchFamily="2" charset="2"/>
              <a:buChar char="Ø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lvl="1" algn="just">
              <a:buFont typeface="Wingdings" panose="05000000000000000000" pitchFamily="2" charset="2"/>
              <a:buChar char="v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Carotid artery stenosis (CAS) is a significant risk factor for ischemic stroke, caused by narrowing of the carotid arteries.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Wingdings" panose="05000000000000000000" pitchFamily="2" charset="2"/>
              <a:buChar char="v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detection and segmentation is time-consuming, requires expert knowledge, and may miss subtle patterns.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</a:t>
            </a:r>
          </a:p>
          <a:p>
            <a:pPr lvl="1" algn="just">
              <a:buFont typeface="Wingdings" panose="05000000000000000000" pitchFamily="2" charset="2"/>
              <a:buChar char="v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pipeline (CNN pentagon regressor)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analyze carotid artery images and: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meaningful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and texture features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v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clustering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differentiate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healthy vs stenotic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regions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Visualize image similarity using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t-SNE and HDBSCAN/</a:t>
            </a: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Kmeans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Bypass YOLO limitations (YOLO requires bounding boxes — unsuitable for this polygonal label format)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feature-based, label-independent diagnosis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representations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from ResNet50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scalable and automated screening of medical imagery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741715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5FA0C-413C-3484-A881-4AB06B978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0544"/>
            <a:ext cx="10515600" cy="479701"/>
          </a:xfrm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AND IMAGE LABEL FORMAT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2E29-3541-4982-CD90-AE064A129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843" y="1013791"/>
            <a:ext cx="11847444" cy="5163172"/>
          </a:xfrm>
        </p:spPr>
        <p:txBody>
          <a:bodyPr/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Medical images of carotid arteries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stenotic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carotid artery samples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number of images: 10896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Label Format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Labels are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polygonal segmentation masks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(not bounding boxes)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Polygon vertices define the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stenotic region boundaries</a:t>
            </a:r>
          </a:p>
          <a:p>
            <a:pPr lvl="1"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Polygonal masks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better capture shape and texture of affected regions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Implication for Model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YOLO unsuitable due to lack of bounding boxes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for alternative segmentation &amp; feature extraction strategies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164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12816-92B0-3BDA-A702-62A1D2082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8DDDA-6614-86F3-9A73-9F9E4337F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Image resizing and normalization applied.</a:t>
            </a:r>
            <a:br>
              <a:rPr lang="en-IN" dirty="0"/>
            </a:br>
            <a:r>
              <a:rPr lang="en-IN" dirty="0"/>
              <a:t>Standardizes inputs for CNN training stability.</a:t>
            </a:r>
          </a:p>
          <a:p>
            <a:r>
              <a:rPr lang="en-IN" b="1" dirty="0"/>
              <a:t>Noise reduction performed on ultrasound images.</a:t>
            </a:r>
            <a:br>
              <a:rPr lang="en-IN" dirty="0"/>
            </a:br>
            <a:r>
              <a:rPr lang="en-IN" dirty="0"/>
              <a:t>Minimizes speckle noise inherent in ultrasound imaging.</a:t>
            </a:r>
          </a:p>
          <a:p>
            <a:r>
              <a:rPr lang="en-IN" b="1" dirty="0"/>
              <a:t>Region of interest enhancement.</a:t>
            </a:r>
            <a:br>
              <a:rPr lang="en-IN" dirty="0"/>
            </a:br>
            <a:r>
              <a:rPr lang="en-IN" dirty="0"/>
              <a:t>Focuses model attention on carotid artery structures.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2472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0F678-D10A-4AE2-99DF-42ACF93DF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403"/>
            <a:ext cx="10515600" cy="668545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 MODEL ARCHITECTURE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709B6-3BAE-554C-F149-22035DE84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75" y="904460"/>
            <a:ext cx="11738112" cy="5883965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/>
              <a:t>CNN Problem Formulation</a:t>
            </a:r>
          </a:p>
          <a:p>
            <a:r>
              <a:rPr lang="en-US" b="1" dirty="0"/>
              <a:t>Input consists of preprocessed ultrasound images.</a:t>
            </a:r>
            <a:br>
              <a:rPr lang="en-US" dirty="0"/>
            </a:br>
            <a:r>
              <a:rPr lang="en-US" dirty="0"/>
              <a:t>Images are fed into the CNN in standardized tensor format.</a:t>
            </a:r>
          </a:p>
          <a:p>
            <a:r>
              <a:rPr lang="en-US" b="1" dirty="0"/>
              <a:t>Primary task is artery and plaque segmentation.</a:t>
            </a:r>
            <a:br>
              <a:rPr lang="en-US" dirty="0"/>
            </a:br>
            <a:r>
              <a:rPr lang="en-US" dirty="0"/>
              <a:t>Pixel-wise classification separates lumen, plaque, and background.</a:t>
            </a:r>
          </a:p>
          <a:p>
            <a:r>
              <a:rPr lang="en-US" b="1" dirty="0"/>
              <a:t>Secondary task is feature extraction from segmented regions.</a:t>
            </a:r>
            <a:br>
              <a:rPr lang="en-US" dirty="0"/>
            </a:br>
            <a:r>
              <a:rPr lang="en-US" dirty="0"/>
              <a:t>Clinical parameters are computed from segmentation outputs.</a:t>
            </a:r>
          </a:p>
          <a:p>
            <a:endParaRPr lang="en-US" dirty="0"/>
          </a:p>
          <a:p>
            <a:r>
              <a:rPr lang="en-US" b="1" dirty="0"/>
              <a:t>CNN Architecture</a:t>
            </a:r>
          </a:p>
          <a:p>
            <a:r>
              <a:rPr lang="en-US" b="1" dirty="0"/>
              <a:t>Encoder network extracts hierarchical features.</a:t>
            </a:r>
            <a:br>
              <a:rPr lang="en-US" dirty="0"/>
            </a:br>
            <a:r>
              <a:rPr lang="en-US" dirty="0"/>
              <a:t>Lower layers capture edges, higher layers capture plaque textures.</a:t>
            </a:r>
          </a:p>
          <a:p>
            <a:r>
              <a:rPr lang="en-US" b="1" dirty="0"/>
              <a:t>Decoder network reconstructs segmentation masks.</a:t>
            </a:r>
            <a:br>
              <a:rPr lang="en-US" dirty="0"/>
            </a:br>
            <a:r>
              <a:rPr lang="en-US" dirty="0"/>
              <a:t>Spatial resolution is restored to localize anatomical structures.</a:t>
            </a:r>
          </a:p>
          <a:p>
            <a:r>
              <a:rPr lang="en-US" b="1" dirty="0"/>
              <a:t>End-to-end trainable architecture.</a:t>
            </a:r>
            <a:br>
              <a:rPr lang="en-US" dirty="0"/>
            </a:br>
            <a:r>
              <a:rPr lang="en-US" dirty="0"/>
              <a:t>The model learns optimal parameters during training.</a:t>
            </a:r>
          </a:p>
          <a:p>
            <a:r>
              <a:rPr lang="en-US" dirty="0"/>
              <a:t>Ensures precise localization in segmentation output.</a:t>
            </a:r>
          </a:p>
          <a:p>
            <a:r>
              <a:rPr lang="en-US" dirty="0"/>
              <a:t>This segmentation enables precise anatomical localization required for clinical parameter computation.”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2201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02E29-8B45-79D2-B316-6C12A3E7A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 LAYERS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4185A-0F59-876E-1708-263827DD3E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Convolution layers detect structural patterns.</a:t>
            </a:r>
            <a:br>
              <a:rPr lang="en-IN" dirty="0"/>
            </a:br>
            <a:r>
              <a:rPr lang="en-IN" dirty="0"/>
              <a:t>Filters learn artery boundaries and plaque morphology.</a:t>
            </a:r>
          </a:p>
          <a:p>
            <a:r>
              <a:rPr lang="en-IN" b="1" dirty="0"/>
              <a:t>ReLU activation introduces non-linearity.</a:t>
            </a:r>
            <a:br>
              <a:rPr lang="en-IN" dirty="0"/>
            </a:br>
            <a:r>
              <a:rPr lang="en-IN" dirty="0"/>
              <a:t>Enables learning of complex relationships.</a:t>
            </a:r>
          </a:p>
          <a:p>
            <a:r>
              <a:rPr lang="en-IN" b="1" dirty="0"/>
              <a:t>Pooling layers reduce dimensionality.</a:t>
            </a:r>
            <a:br>
              <a:rPr lang="en-IN" dirty="0"/>
            </a:br>
            <a:r>
              <a:rPr lang="en-IN" dirty="0"/>
              <a:t>Improves computational efficiency and robustness.</a:t>
            </a:r>
          </a:p>
          <a:p>
            <a:r>
              <a:rPr lang="en-IN" b="1" dirty="0" err="1"/>
              <a:t>Upsampling</a:t>
            </a:r>
            <a:r>
              <a:rPr lang="en-IN" b="1" dirty="0"/>
              <a:t> layers restore spatial details.</a:t>
            </a:r>
            <a:br>
              <a:rPr lang="en-IN" dirty="0"/>
            </a:br>
            <a:r>
              <a:rPr lang="en-IN" dirty="0"/>
              <a:t>Ensures precise localization in segmentation output.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8698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D77C2-BDDA-507E-1F85-0C4A3DCD9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7997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 TRAINING STRATEGY &amp; OUTPUTS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1E13C-6CBC-2A6A-8605-901C6802A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504" y="1123122"/>
            <a:ext cx="10946296" cy="5369753"/>
          </a:xfrm>
        </p:spPr>
        <p:txBody>
          <a:bodyPr>
            <a:normAutofit/>
          </a:bodyPr>
          <a:lstStyle/>
          <a:p>
            <a:r>
              <a:rPr lang="en-IN" b="1" dirty="0"/>
              <a:t>Dice loss addresses class imbalance.</a:t>
            </a:r>
            <a:br>
              <a:rPr lang="en-IN" dirty="0"/>
            </a:br>
            <a:r>
              <a:rPr lang="en-IN" dirty="0"/>
              <a:t>Useful when plaque regions are smaller than background.</a:t>
            </a:r>
          </a:p>
          <a:p>
            <a:r>
              <a:rPr lang="en-IN" b="1" dirty="0"/>
              <a:t>Adam optimizer ensures fast convergence.</a:t>
            </a:r>
            <a:br>
              <a:rPr lang="en-IN" dirty="0"/>
            </a:br>
            <a:r>
              <a:rPr lang="en-IN" dirty="0"/>
              <a:t>Adaptive learning rates improve stability.</a:t>
            </a:r>
          </a:p>
          <a:p>
            <a:r>
              <a:rPr lang="en-IN" b="1" dirty="0"/>
              <a:t>Validation monitoring prevents overfitting.</a:t>
            </a:r>
            <a:br>
              <a:rPr lang="en-IN" dirty="0"/>
            </a:br>
            <a:r>
              <a:rPr lang="en-IN" dirty="0"/>
              <a:t>Ensures model generalization on unseen data.</a:t>
            </a:r>
          </a:p>
          <a:p>
            <a:r>
              <a:rPr lang="en-IN" b="1" dirty="0"/>
              <a:t>CNN outputs pixel-wise segmentation masks.</a:t>
            </a:r>
            <a:br>
              <a:rPr lang="en-IN" dirty="0"/>
            </a:br>
            <a:r>
              <a:rPr lang="en-IN" dirty="0"/>
              <a:t>Each pixel is classified as lumen, plaque, or background.</a:t>
            </a:r>
          </a:p>
          <a:p>
            <a:r>
              <a:rPr lang="en-IN" b="1" dirty="0"/>
              <a:t>Morphological operations refine boundaries.</a:t>
            </a:r>
            <a:br>
              <a:rPr lang="en-IN" dirty="0"/>
            </a:br>
            <a:r>
              <a:rPr lang="en-IN" dirty="0"/>
              <a:t>Reduces segmentation noise and artifacts.</a:t>
            </a:r>
          </a:p>
          <a:p>
            <a:r>
              <a:rPr lang="en-IN" b="1" dirty="0"/>
              <a:t>Final masks used for quantitative analysis.</a:t>
            </a:r>
            <a:br>
              <a:rPr lang="en-IN" dirty="0"/>
            </a:br>
            <a:r>
              <a:rPr lang="en-IN" dirty="0"/>
              <a:t>Accurate boundaries enable reliable measurements.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5404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DD529-3547-3A21-E56B-D6F5E3A05B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4426" y="546652"/>
            <a:ext cx="9144000" cy="725557"/>
          </a:xfrm>
        </p:spPr>
        <p:txBody>
          <a:bodyPr>
            <a:normAutofit fontScale="90000"/>
          </a:bodyPr>
          <a:lstStyle/>
          <a:p>
            <a:b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“Hybrid Deep Learning Approach using Resnet50: Segmentation + Feature Learning”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13E1B-EDF1-7C5F-1924-070B9721BF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8843" y="1550504"/>
            <a:ext cx="11678479" cy="5218044"/>
          </a:xfrm>
        </p:spPr>
        <p:txBody>
          <a:bodyPr>
            <a:normAutofit/>
          </a:bodyPr>
          <a:lstStyle/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Extraction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Plaque area computed from segmented regions.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Represents plaque burden in the artery.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Lumen area extracted for stenosis calculation.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to assess degree of narrowing.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Intensity-based analysis for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echolucency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Indicates plaque composition and vulnerability.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Clinical Parameter Computation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Plaque percentage indicates disease severity.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Calculated as plaque area relative to artery area.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Lumen stenosis measures flow obstruction.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Derived from diameter or area reduction.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Calcification detection uses intensity thresholds.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Identifies hardened plaque regions.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 thickness estimation reflects plaque stability.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Thinner caps indicate higher rupture risk.</a:t>
            </a:r>
          </a:p>
          <a:p>
            <a:pPr algn="just"/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8106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25FD1-F0D6-8328-24E6-80424027C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3787"/>
            <a:ext cx="10515600" cy="579092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 Workflow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81BBC-8447-E29F-9A7E-419B7105F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235" y="1282148"/>
            <a:ext cx="11688417" cy="52677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Screen 1: Login and session control.</a:t>
            </a:r>
            <a:br>
              <a:rPr lang="en-US" dirty="0"/>
            </a:br>
            <a:r>
              <a:rPr lang="en-US" dirty="0"/>
              <a:t>Allows controlled start and end of analysis sessions.</a:t>
            </a:r>
          </a:p>
          <a:p>
            <a:r>
              <a:rPr lang="en-US" b="1" dirty="0"/>
              <a:t>Screen 2: Patient data entry and image upload.</a:t>
            </a:r>
            <a:br>
              <a:rPr lang="en-US" dirty="0"/>
            </a:br>
            <a:r>
              <a:rPr lang="en-US" dirty="0"/>
              <a:t>Includes name, age, sex, ID, and ultrasound image input.</a:t>
            </a:r>
          </a:p>
          <a:p>
            <a:r>
              <a:rPr lang="en-US" b="1" dirty="0"/>
              <a:t>Automated processing after submission.</a:t>
            </a:r>
            <a:br>
              <a:rPr lang="en-US" dirty="0"/>
            </a:br>
            <a:r>
              <a:rPr lang="en-US" dirty="0"/>
              <a:t>The system executes segmentation and analysis without manual intervention.</a:t>
            </a:r>
          </a:p>
          <a:p>
            <a:r>
              <a:rPr lang="en-US" b="1" dirty="0"/>
              <a:t>Dual-screen GUI-based application.</a:t>
            </a:r>
            <a:br>
              <a:rPr lang="en-US" dirty="0"/>
            </a:br>
            <a:r>
              <a:rPr lang="en-US" dirty="0"/>
              <a:t>The first screen manages session control, while the second screen handles analysis.</a:t>
            </a:r>
          </a:p>
          <a:p>
            <a:r>
              <a:rPr lang="en-US" b="1" dirty="0"/>
              <a:t>Backend deep learning model for image analysis.</a:t>
            </a:r>
            <a:br>
              <a:rPr lang="en-US" dirty="0"/>
            </a:br>
            <a:r>
              <a:rPr lang="en-US" dirty="0"/>
              <a:t>CNN processes ultrasound images automatically after upload.</a:t>
            </a:r>
          </a:p>
          <a:p>
            <a:r>
              <a:rPr lang="en-US" b="1" dirty="0"/>
              <a:t>Integrated clinical parameter computation module.</a:t>
            </a:r>
            <a:br>
              <a:rPr lang="en-US" dirty="0"/>
            </a:br>
            <a:r>
              <a:rPr lang="en-US" dirty="0"/>
              <a:t>Extracted features are converted into meaningful medical metrics.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7736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E73EE-CCFF-FD77-96F4-E6807FDA1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8883"/>
            <a:ext cx="10515600" cy="728384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 WORKFLOW SAMPLE IMAGES 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46E12A3-5961-008C-82BB-6D688870A2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938" y="1142829"/>
            <a:ext cx="4967926" cy="445669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5F4B4C-0129-5D6B-81F9-4B9780C7EF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0351" y="1142829"/>
            <a:ext cx="6183983" cy="4456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402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38449-6386-68D2-AD80-5929D5B55F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58219"/>
            <a:ext cx="9144000" cy="649876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CAROTID STENOSIS IN GUI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53BB4B-FCDA-A964-EB35-DE7496E7F9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4144" y="5099901"/>
            <a:ext cx="9913856" cy="980387"/>
          </a:xfrm>
        </p:spPr>
        <p:txBody>
          <a:bodyPr>
            <a:normAutofit fontScale="92500"/>
          </a:bodyPr>
          <a:lstStyle/>
          <a:p>
            <a:r>
              <a:rPr lang="en-US" dirty="0"/>
              <a:t>Sample output.</a:t>
            </a:r>
          </a:p>
          <a:p>
            <a:r>
              <a:rPr lang="en-US" dirty="0"/>
              <a:t>Green </a:t>
            </a:r>
            <a:r>
              <a:rPr lang="en-US" dirty="0" err="1"/>
              <a:t>colour</a:t>
            </a:r>
            <a:r>
              <a:rPr lang="en-US" dirty="0"/>
              <a:t> inside the circular carotid artery is plaque, as pointed by an arrow.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88DFDB-E17A-AD37-50BF-98AF8BE349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670" y="1224910"/>
            <a:ext cx="3412502" cy="36581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68D346-76BB-00DE-24CF-0FF395D82A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2590" y="1224910"/>
            <a:ext cx="4572000" cy="36581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4F3B728-508C-A01F-73B4-BF86ADB59B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2441" y="1224912"/>
            <a:ext cx="3685880" cy="3658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093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4030F-0160-0E00-78C9-EBF5E0C4F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3860"/>
          </a:xfrm>
        </p:spPr>
        <p:txBody>
          <a:bodyPr>
            <a:normAutofit fontScale="90000"/>
          </a:bodyPr>
          <a:lstStyle/>
          <a:p>
            <a:pPr algn="ctr"/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Clinical Parameter Computation</a:t>
            </a:r>
            <a:br>
              <a:rPr lang="en-IN" sz="3600" b="1" dirty="0"/>
            </a:b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0A41C-DA89-C86E-6227-11E60632A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467" y="710751"/>
            <a:ext cx="11105322" cy="2718249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Plaque percentage indicates disease severity. 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Calculated as plaque area relative to artery area.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Lumen stenosis measures flow obstruction.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Derived from diameter or area reduction.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Calcification detection uses intensity thresholds.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Identifies hardened plaque regions.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 thickness estimation reflects plaque stability.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Thinner caps indicate higher rupture risk.</a:t>
            </a:r>
          </a:p>
          <a:p>
            <a:endParaRPr lang="en-I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28AD10-8547-6246-9C08-E1B3FD8786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41" y="3429000"/>
            <a:ext cx="3288574" cy="314148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6AE369E-90D0-8541-A6C1-DDEE6D360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4835" y="3429001"/>
            <a:ext cx="4812324" cy="31414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3BBBC3A-4176-2398-9B43-FCA5CCD551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772" y="3429000"/>
            <a:ext cx="3685880" cy="3141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535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B9A74-D231-079A-2EC3-9A30DCC0B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Plaque Susceptibility Prediction &amp; Results</a:t>
            </a:r>
            <a:br>
              <a:rPr lang="en-US" sz="3600" b="1" dirty="0"/>
            </a:b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E5591-5290-56B9-760E-ACE9E0CBD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173" y="1550504"/>
            <a:ext cx="11787809" cy="4942371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Plaque Susceptibility Prediction: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parameters combined for risk assessment.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holistic plaque evaluation.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categorized into low, moderate, and high.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Simplifies clinical interpretation.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displayed clearly in GUI.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clinical decision-making.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Accurate segmentation achieved on ultrasound images.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 effectively identifies artery and plaque regions.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parameter extraction reduces manual effort.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efficiency and consistency.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demonstrates clinical applicability.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reliable decision support.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2032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675A6-891D-672A-D825-09CE834EF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5673"/>
            <a:ext cx="10515600" cy="638727"/>
          </a:xfrm>
        </p:spPr>
        <p:txBody>
          <a:bodyPr>
            <a:normAutofit fontScale="90000"/>
          </a:bodyPr>
          <a:lstStyle/>
          <a:p>
            <a:pPr algn="ctr"/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 &amp; Limitations of Proposed System</a:t>
            </a:r>
            <a:b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83071-7DFF-9AE5-7E31-E3DE782F94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8296" y="755374"/>
            <a:ext cx="11075504" cy="5737501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/>
              <a:t>Advantages of Proposed System</a:t>
            </a:r>
          </a:p>
          <a:p>
            <a:r>
              <a:rPr lang="en-IN" b="1" dirty="0"/>
              <a:t>End-to-end automation reduces variability.</a:t>
            </a:r>
            <a:br>
              <a:rPr lang="en-IN" dirty="0"/>
            </a:br>
            <a:r>
              <a:rPr lang="en-IN" dirty="0"/>
              <a:t>Minimizes human error.</a:t>
            </a:r>
          </a:p>
          <a:p>
            <a:r>
              <a:rPr lang="en-IN" b="1" dirty="0"/>
              <a:t>User-friendly interface enables easy adoption.</a:t>
            </a:r>
            <a:br>
              <a:rPr lang="en-IN" dirty="0"/>
            </a:br>
            <a:r>
              <a:rPr lang="en-IN" dirty="0"/>
              <a:t>Designed for clinical environments.</a:t>
            </a:r>
          </a:p>
          <a:p>
            <a:r>
              <a:rPr lang="en-IN" b="1" dirty="0"/>
              <a:t>Scalable and extendable architecture.</a:t>
            </a:r>
            <a:br>
              <a:rPr lang="en-IN" dirty="0"/>
            </a:br>
            <a:r>
              <a:rPr lang="en-IN" dirty="0"/>
              <a:t>Can integrate future improvements.</a:t>
            </a:r>
          </a:p>
          <a:p>
            <a:endParaRPr lang="en-IN" dirty="0"/>
          </a:p>
          <a:p>
            <a:r>
              <a:rPr lang="en-US" b="1" dirty="0"/>
              <a:t>Limitations</a:t>
            </a:r>
          </a:p>
          <a:p>
            <a:r>
              <a:rPr lang="en-US" b="1" dirty="0"/>
              <a:t>Dependent on ultrasound image quality.</a:t>
            </a:r>
            <a:br>
              <a:rPr lang="en-US" dirty="0"/>
            </a:br>
            <a:r>
              <a:rPr lang="en-US" dirty="0"/>
              <a:t>Poor images reduce accuracy.</a:t>
            </a:r>
          </a:p>
          <a:p>
            <a:r>
              <a:rPr lang="en-US" b="1" dirty="0"/>
              <a:t>Requires larger datasets for further improvement.</a:t>
            </a:r>
            <a:br>
              <a:rPr lang="en-US" dirty="0"/>
            </a:br>
            <a:r>
              <a:rPr lang="en-US" dirty="0"/>
              <a:t>More data improves robustness.</a:t>
            </a:r>
          </a:p>
          <a:p>
            <a:r>
              <a:rPr lang="en-US" b="1" dirty="0"/>
              <a:t>Clinical validation still required.</a:t>
            </a:r>
            <a:br>
              <a:rPr lang="en-US" dirty="0"/>
            </a:br>
            <a:r>
              <a:rPr lang="en-US" dirty="0"/>
              <a:t>Necessary before real-world deployment.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5398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75B57-B5CE-43C6-4ECC-E252572DD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1444" y="197678"/>
            <a:ext cx="7679635" cy="816113"/>
          </a:xfrm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367E7-F9C6-F2FC-1992-A96114DD7A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783" y="1103242"/>
            <a:ext cx="11757991" cy="5557079"/>
          </a:xfrm>
        </p:spPr>
        <p:txBody>
          <a:bodyPr>
            <a:normAutofit/>
          </a:bodyPr>
          <a:lstStyle/>
          <a:p>
            <a:r>
              <a:rPr lang="en-US" sz="2400" b="1" dirty="0"/>
              <a:t>Future Scope</a:t>
            </a:r>
          </a:p>
          <a:p>
            <a:r>
              <a:rPr lang="en-US" sz="2400" b="1" dirty="0"/>
              <a:t>Real-time ultrasound integration.</a:t>
            </a:r>
            <a:br>
              <a:rPr lang="en-US" sz="2400" dirty="0"/>
            </a:br>
            <a:r>
              <a:rPr lang="en-US" sz="2400" dirty="0"/>
              <a:t>Allows live analysis during scanning.</a:t>
            </a:r>
          </a:p>
          <a:p>
            <a:r>
              <a:rPr lang="en-US" sz="2400" b="1" dirty="0"/>
              <a:t>Advanced deep learning architectures.</a:t>
            </a:r>
            <a:br>
              <a:rPr lang="en-US" sz="2400" dirty="0"/>
            </a:br>
            <a:r>
              <a:rPr lang="en-US" sz="2400" dirty="0"/>
              <a:t>Improves segmentation accuracy.</a:t>
            </a:r>
          </a:p>
          <a:p>
            <a:r>
              <a:rPr lang="en-US" sz="2400" b="1" dirty="0"/>
              <a:t>Deployment as clinical decision support system.</a:t>
            </a:r>
            <a:br>
              <a:rPr lang="en-US" sz="2400" dirty="0"/>
            </a:br>
            <a:r>
              <a:rPr lang="en-US" sz="2400" dirty="0"/>
              <a:t>Assists doctors in diagnosis.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00792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1057</Words>
  <Application>Microsoft Office PowerPoint</Application>
  <PresentationFormat>Widescreen</PresentationFormat>
  <Paragraphs>108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Times New Roman</vt:lpstr>
      <vt:lpstr>Wingdings</vt:lpstr>
      <vt:lpstr>Office Theme</vt:lpstr>
      <vt:lpstr>CAROTID ARTERY STENOSIS USING INSTANCE SEGMENTATION</vt:lpstr>
      <vt:lpstr>PROBLEM STATEMENT AND OBJECTIVE</vt:lpstr>
      <vt:lpstr>DATASET AND IMAGE LABEL FORMAT</vt:lpstr>
      <vt:lpstr>Image Preprocessing</vt:lpstr>
      <vt:lpstr>CNN MODEL ARCHITECTURE</vt:lpstr>
      <vt:lpstr>CNN LAYERS</vt:lpstr>
      <vt:lpstr>CNN TRAINING STRATEGY &amp; OUTPUTS</vt:lpstr>
      <vt:lpstr> “Hybrid Deep Learning Approach using Resnet50: Segmentation + Feature Learning”</vt:lpstr>
      <vt:lpstr>GUI Workflow </vt:lpstr>
      <vt:lpstr>GUI WORKFLOW SAMPLE IMAGES </vt:lpstr>
      <vt:lpstr>CAROTID STENOSIS IN GUI</vt:lpstr>
      <vt:lpstr>Clinical Parameter Computation </vt:lpstr>
      <vt:lpstr>Plaque Susceptibility Prediction &amp; Results </vt:lpstr>
      <vt:lpstr>Advantages &amp; Limitations of Proposed System </vt:lpstr>
      <vt:lpstr>FUTURE SCOPE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Saaket Kasina</dc:creator>
  <cp:lastModifiedBy>Saaket Kasina</cp:lastModifiedBy>
  <cp:revision>75</cp:revision>
  <dcterms:created xsi:type="dcterms:W3CDTF">2025-06-02T14:51:01Z</dcterms:created>
  <dcterms:modified xsi:type="dcterms:W3CDTF">2026-02-11T17:55:23Z</dcterms:modified>
</cp:coreProperties>
</file>